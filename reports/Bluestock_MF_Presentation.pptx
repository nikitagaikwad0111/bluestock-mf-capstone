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873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Mutual Fund Analytics Platform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D6E4F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End-to-End Data Engineering, ETL Pipeline &amp; Interactive Dashboard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5029200" cy="2560320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7472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Author: 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Nikita Gaikwad
</a:t>
            </a:r>
            <a:r>
              <a:rPr lang="en-US" sz="14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Role: 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Data Analyst Intern
</a:t>
            </a:r>
            <a:r>
              <a:rPr lang="en-US" sz="14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Company: 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Bluestock Fintech Pvt. Ltd.
</a:t>
            </a:r>
            <a:r>
              <a:rPr lang="en-US" sz="14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Duration: 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7 Days | June 2026
</a:t>
            </a:r>
            <a:r>
              <a:rPr lang="en-US" sz="14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Tools: 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Python, SQL, Power BI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Project at a Glance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0" y="2011680"/>
            <a:ext cx="2286000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40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Fund Schemes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0" y="2011680"/>
            <a:ext cx="2286000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87K+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Data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0" y="3383280"/>
            <a:ext cx="2286000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10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Datasets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0" y="3383280"/>
            <a:ext cx="2286000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4.5 Yrs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NAV History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0" y="4754880"/>
            <a:ext cx="2286000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Dashboard Pages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0" y="4754880"/>
            <a:ext cx="2286000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Risk Metrics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BLUESTOCK FINTECH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Problem Statement &amp; Objectives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5486400" cy="5120640"/>
          </a:xfrm>
          <a:prstGeom prst="rect">
            <a:avLst/>
          </a:prstGeom>
          <a:solidFill>
            <a:srgbClr val="F5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Problems We Solve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57200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P1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Data Fragmentation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395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NAV, AUM, SIP data scattered across AMFI website in different formats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57200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P2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Performance Gap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3264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No unified platform to compare funds on risk-adjusted basis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57200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886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P3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No Benchmark Tracking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133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Retail investors can't see if their fund beats Nifty 50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4709160"/>
            <a:ext cx="457200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754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P4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Investor Blind Spot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5001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Limited visibility into demographic &amp; geographic SIP patterns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5577840"/>
            <a:ext cx="457200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5623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4400" y="5577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Slow Reporting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5870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Static monthly PDFs — no live self-service dashboards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1463040"/>
            <a:ext cx="5669280" cy="512064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Project Objectives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2103120"/>
            <a:ext cx="36576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1214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O1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Build automated ETL pipeline from AMFI data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0" y="2651760"/>
            <a:ext cx="36576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6700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O2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5800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Design normalised 5-table SQLite star schema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0" y="3200400"/>
            <a:ext cx="36576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2186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O3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5800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Perform comprehensive EDA on 87K+ rows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0" y="3749040"/>
            <a:ext cx="36576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7673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O4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58000" y="3749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Compute Sharpe, Sortino, Alpha, Beta, VaR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0800" y="4297680"/>
            <a:ext cx="36576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43159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O5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5800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Build 4-page interactive Power BI dashboard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00800" y="4846320"/>
            <a:ext cx="36576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48646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858000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Analyse investor transaction demographics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00800" y="5394960"/>
            <a:ext cx="36576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54132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O7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58000" y="5394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Compare fund returns vs benchmark indices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00800" y="5943600"/>
            <a:ext cx="36576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59618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O8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58000" y="5943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Document &amp; present the complete platform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Data Sources &amp; Dataset Inventory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161288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08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#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Dataset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0896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Size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0" y="15087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Description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11612880" cy="420624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202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01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fund_master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08960" y="1920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40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80560" y="19202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40 real mutual fund schemes with metadata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313432"/>
            <a:ext cx="116128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35915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02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359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nav_history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108960" y="2359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46,000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0560" y="235915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Daily NAV Jan 2022 to May 2026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2752344"/>
            <a:ext cx="11612880" cy="420624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79806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03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2798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aum_by_fund_house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108960" y="27980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90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80560" y="279806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Quarterly AUM for 10 fund houses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3191256"/>
            <a:ext cx="116128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23697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04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" y="32369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monthly_sip_inflows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108960" y="32369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48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80560" y="32369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Month-wise SIP inflow data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3630168"/>
            <a:ext cx="11612880" cy="420624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6758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36758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category_inflows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108960" y="36758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144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80560" y="36758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Net inflows by fund category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116128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1148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06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" y="4114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industry_folio_count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10896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21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480560" y="41148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Total MF folios by type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4320" y="4507992"/>
            <a:ext cx="11612880" cy="420624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5537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07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2960" y="45537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scheme_performance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108960" y="4553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40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480560" y="455371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Risk-return metrics per scheme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74320" y="4946904"/>
            <a:ext cx="116128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99262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08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2960" y="49926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investor_transactions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108960" y="49926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32,000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480560" y="499262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SIP, Lumpsum, Redemption transactions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74320" y="5385816"/>
            <a:ext cx="11612880" cy="420624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543153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09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2960" y="5431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portfolio_holdings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108960" y="54315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322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480560" y="543153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Top equity holdings per fund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4320" y="5824728"/>
            <a:ext cx="116128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58704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10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22960" y="5870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benchmark_indices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108960" y="58704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8,050 rows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480560" y="58704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Nifty 50, Nifty 100, BSE SmallCap daily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Sources: AMFI India | mfapi.in | NSE India | BSE India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System Architecture &amp; ETL Pipeline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194560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08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EXTRACT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2402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AMFI India CSVs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47472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mfapi.in REST API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475488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800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NSE/BSE Bhavcopy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→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51760" y="1463040"/>
            <a:ext cx="2194560" cy="502920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08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TRANSFORM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219456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2402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Pandas cleaning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0" y="347472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Forward-fill NAV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0" y="475488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4800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Compute returns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6344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→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0" y="1463040"/>
            <a:ext cx="2194560" cy="50292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508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LOAD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20640" y="219456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2402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SQLite database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120640" y="347472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Star schema design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120640" y="475488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800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CSV flat-file backup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4088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→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06640" y="1463040"/>
            <a:ext cx="2194560" cy="5029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1508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ANALYSE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98080" y="219456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22402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Jupyter EDA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498080" y="347472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Risk metrics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498080" y="475488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4800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Fund Scorecard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1832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→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784080" y="1463040"/>
            <a:ext cx="2194560" cy="5029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9784080" y="1508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VISUALISE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875520" y="219456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9875520" y="22402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Power BI 4 pages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875520" y="347472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987552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Slicers &amp; filters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875520" y="4754880"/>
            <a:ext cx="2011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9875520" y="4800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PDF + PNG export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Star Schema: dim_fund | dim_date | fact_nav | fact_transactions | fact_performance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EDA Highlights — Industry &amp; AUM Analysis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560320" cy="1280160"/>
          </a:xfrm>
          <a:prstGeom prst="rect">
            <a:avLst/>
          </a:prstGeom>
          <a:solidFill>
            <a:srgbClr val="F5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₹81L Cr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Industry AUM Dec 2025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017520" y="1554480"/>
            <a:ext cx="2560320" cy="1280160"/>
          </a:xfrm>
          <a:prstGeom prst="rect">
            <a:avLst/>
          </a:prstGeom>
          <a:solidFill>
            <a:srgbClr val="F5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₹31,002 Cr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10896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SIP Inflow Dec 2025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60720" y="1554480"/>
            <a:ext cx="2560320" cy="1280160"/>
          </a:xfrm>
          <a:prstGeom prst="rect">
            <a:avLst/>
          </a:prstGeom>
          <a:solidFill>
            <a:srgbClr val="F5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26.12 Cr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5216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Total Folios Dec 2025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03920" y="1554480"/>
            <a:ext cx="2560320" cy="1280160"/>
          </a:xfrm>
          <a:prstGeom prst="rect">
            <a:avLst/>
          </a:prstGeom>
          <a:solidFill>
            <a:srgbClr val="F5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9.35 Cr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9536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Active SIP Accounts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11612880" cy="3474720"/>
          </a:xfrm>
          <a:prstGeom prst="rect">
            <a:avLst/>
          </a:prstGeom>
          <a:solidFill>
            <a:srgbClr val="F5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Key EDA Findings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2004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AUM Growth: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108960" y="36118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Industry AUM grew 2x from Rs.30L Cr (2022) to Rs.62L Cr (2025) — consistent upward trend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32004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SBI Dominance: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108960" y="4160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SBI Mutual Fund leads with Rs.12.5L Cr AUM, followed by ICICI Pru (Rs.10.7L Cr) and HDFC (Rs.9.3L Cr)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32004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SIP Milestone: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08960" y="47091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SIP inflows crossed Rs.31,002 Cr in Dec 2025 — an all-time high reflecting India's equity culture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760" y="5257800"/>
            <a:ext cx="32004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Category Mix: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108960" y="52578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Liquid funds show highest inflows (green in heatmap), Small Cap funds show highest returns but volatility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65760" y="5806440"/>
            <a:ext cx="32004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806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Folio Growth: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108960" y="5806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Total folios doubled from 13.26 Cr (2022) to 26.12 Cr (2025) — mass retail participation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EDA Highlights — Investor Behaviour Analysis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5486400" cy="5120640"/>
          </a:xfrm>
          <a:prstGeom prst="rect">
            <a:avLst/>
          </a:prstGeom>
          <a:solidFill>
            <a:srgbClr val="F5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Transaction Type Split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Lumpsum 58.49%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02920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Redemption 35.34%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01752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SIP 6.17%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4864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State-wise Insights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365760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708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Punjab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329184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823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Tamil Nadu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5166360"/>
            <a:ext cx="292608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1937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Madhya Pradesh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256032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6052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Rajasthan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5989320"/>
            <a:ext cx="219456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60167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Gujarat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5669280" cy="512064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971" y="149336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Age Group vs Avg SIP Amount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43600" y="20574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56+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766560" y="2103120"/>
            <a:ext cx="4572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8" name="Text 26"/>
          <p:cNvSpPr/>
          <p:nvPr/>
        </p:nvSpPr>
        <p:spPr>
          <a:xfrm>
            <a:off x="1136904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₹10,800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0" y="26060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46-55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766560" y="2651760"/>
            <a:ext cx="42976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1106424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₹10,600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0" y="31546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26-35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66560" y="3200400"/>
            <a:ext cx="402336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10789920" y="3200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₹10,400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943600" y="3703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18-25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766560" y="3749040"/>
            <a:ext cx="374904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7" name="Text 35"/>
          <p:cNvSpPr/>
          <p:nvPr/>
        </p:nvSpPr>
        <p:spPr>
          <a:xfrm>
            <a:off x="10525864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₹10,200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943600" y="42519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36-45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766560" y="4297680"/>
            <a:ext cx="356616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0" name="Text 38"/>
          <p:cNvSpPr/>
          <p:nvPr/>
        </p:nvSpPr>
        <p:spPr>
          <a:xfrm>
            <a:off x="1033272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₹10,100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09360" y="50292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Key Insight: 56+ age group invests most per SIP. Lumpsum dominates transactions at 58.49%.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Fund Performance Metrics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7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3657600" cy="1828800"/>
          </a:xfrm>
          <a:prstGeom prst="rect">
            <a:avLst/>
          </a:prstGeom>
          <a:solidFill>
            <a:srgbClr val="F5F8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54480"/>
            <a:ext cx="365760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CAGR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(NAV_end/NAV_start)^(1/n)-1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Annualised return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06240" y="1554480"/>
            <a:ext cx="3657600" cy="1828800"/>
          </a:xfrm>
          <a:prstGeom prst="rect">
            <a:avLst/>
          </a:prstGeom>
          <a:solidFill>
            <a:srgbClr val="F5F8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554480"/>
            <a:ext cx="365760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Sharpe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9768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(Rp-Rf)/Std(Rp)×√252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9768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Return per unit risk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657600" cy="1828800"/>
          </a:xfrm>
          <a:prstGeom prst="rect">
            <a:avLst/>
          </a:prstGeom>
          <a:solidFill>
            <a:srgbClr val="F5F8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554480"/>
            <a:ext cx="3657600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Sortino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44A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(Rp-Rf)/Downside_Std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Downside risk-adjusted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3657600" cy="1828800"/>
          </a:xfrm>
          <a:prstGeom prst="rect">
            <a:avLst/>
          </a:prstGeom>
          <a:solidFill>
            <a:srgbClr val="F5F8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365760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611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Alpha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Fund Return - Benchmark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Excess over benchmark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06240" y="3566160"/>
            <a:ext cx="3657600" cy="1828800"/>
          </a:xfrm>
          <a:prstGeom prst="rect">
            <a:avLst/>
          </a:prstGeom>
          <a:solidFill>
            <a:srgbClr val="F5F8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3566160"/>
            <a:ext cx="365760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611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Beta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9768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OLS Slope vs Nifty100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297680" y="4709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Market sensitivity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38160" y="3566160"/>
            <a:ext cx="3657600" cy="1828800"/>
          </a:xfrm>
          <a:prstGeom prst="rect">
            <a:avLst/>
          </a:prstGeom>
          <a:solidFill>
            <a:srgbClr val="F5F8FF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566160"/>
            <a:ext cx="3657600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611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Max DD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960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min(NAV/RunMax-1)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0" y="4709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Worst peak-to-trough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Risk-free rate (Rf) = 6.5% p.a. (RBI repo rate proxy) | Annualised using √252 trading days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Fund Scorecard — Top 10 Rankings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8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Composite Score = 30% × 3yr Return + 25% × Sharpe + 20% × Alpha + 15% × Expense Ratio (inv.) + 10% × Max DD (inv.)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161288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874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Rank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Scheme Name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Score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3yr Return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Sharpe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8408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Category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11612880" cy="393192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5840" y="2286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ICICI Pru Midcap Fund - Regular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73.62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18.08%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0.95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7840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2642616"/>
            <a:ext cx="116128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68833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" y="26883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HDFC Top 100 - Direct Plan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26883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61.00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0" y="26883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13.38%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86800" y="26883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0.96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784080" y="2688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3044952"/>
            <a:ext cx="11612880" cy="393192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5840" y="30906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DSP Midcap Fund - Regular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7920" y="30906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59.81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0" y="3090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17.16%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0" y="30906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0.90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78408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4320" y="3447288"/>
            <a:ext cx="116128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49300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05840" y="34930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HDFC Mid-Cap Opps - Regular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1792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59.13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1520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16.58%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8680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0.87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784080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849624"/>
            <a:ext cx="11612880" cy="393192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89534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05840" y="389534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Kotak Emerging Equity - Regular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217920" y="38953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59.13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15200" y="38953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18.23%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686800" y="38953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0.96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84080" y="3895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74320" y="4251960"/>
            <a:ext cx="116128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297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058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SBI Small Cap - Direct Plan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21792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56.62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31520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22.38%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68680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0.90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78408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4320" y="4654296"/>
            <a:ext cx="11612880" cy="393192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7000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7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05840" y="470001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Mirae Asset Large Cap - Regular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217920" y="47000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55.00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315200" y="47000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14.81%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686800" y="47000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1.06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784080" y="4700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74320" y="5056632"/>
            <a:ext cx="116128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" y="51023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8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005840" y="51023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ABSL Small Cap - Regular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217920" y="51023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56.62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315200" y="51023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22.38%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686800" y="51023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0.90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9784080" y="5102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274320" y="5458968"/>
            <a:ext cx="11612880" cy="393192"/>
          </a:xfrm>
          <a:prstGeom prst="rect">
            <a:avLst/>
          </a:prstGeom>
          <a:solidFill>
            <a:srgbClr val="F5F8FF"/>
          </a:solidFill>
          <a:ln/>
        </p:spPr>
      </p:sp>
      <p:sp>
        <p:nvSpPr>
          <p:cNvPr id="70" name="Text 68"/>
          <p:cNvSpPr/>
          <p:nvPr/>
        </p:nvSpPr>
        <p:spPr>
          <a:xfrm>
            <a:off x="274320" y="55046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9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05840" y="5504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Nippon India Large Cap - Direct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217920" y="55046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55.00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7315200" y="55046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14.84%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686800" y="55046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0.96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784080" y="5504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274320" y="5861304"/>
            <a:ext cx="116128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274320" y="590702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10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005840" y="590702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UTI Flexi Cap Fund - Regular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217920" y="59070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53.00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315200" y="59070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15.18%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8686800" y="59070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0.80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9784080" y="59070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Equity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Power BI Dashboard — Pages 1 &amp; 2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9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5577840" cy="5120640"/>
          </a:xfrm>
          <a:prstGeom prst="rect">
            <a:avLst/>
          </a:prstGeom>
          <a:solidFill>
            <a:srgbClr val="F5F8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557784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Page 1 — Industry Overview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5669280" cy="512064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463040"/>
            <a:ext cx="566928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Page 2 — Fund Performance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5F6C4A0-FFBF-C95B-2475-0CB6CA849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49" y="1965960"/>
            <a:ext cx="5442281" cy="457199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F760FB3-CADE-A57A-67EF-441CFA7EE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803" y="1965961"/>
            <a:ext cx="5577840" cy="4571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1" y="0"/>
            <a:ext cx="12188952" cy="13716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66531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Power BI Dashboard — Pages 3 &amp; 4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9331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10 / 12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83651" y="1463040"/>
            <a:ext cx="5577840" cy="5120640"/>
          </a:xfrm>
          <a:prstGeom prst="rect">
            <a:avLst/>
          </a:prstGeom>
          <a:solidFill>
            <a:srgbClr val="F5F8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651" y="1463040"/>
            <a:ext cx="557784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375091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Page 3 — Investor Analytics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27251" y="1463040"/>
            <a:ext cx="5669280" cy="512064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7251" y="1463040"/>
            <a:ext cx="566928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6318691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Page 4 — SIP &amp; Market Trends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F3C87A2-8A51-87A1-1549-B54F75087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14" y="1965960"/>
            <a:ext cx="5435137" cy="4572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03129DE-C525-AD06-56F7-72F31EA77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636" y="1965960"/>
            <a:ext cx="552558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Key Findings &amp; Insights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577840" cy="1554480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594360" cy="1554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01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Top Performer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ICICI Pru Midcap ranks #1 in Fund Scorecard with composite score 73.62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577840" cy="1554480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097280"/>
            <a:ext cx="594360" cy="1554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28016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02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0" y="1143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Highest Risk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40880" y="1554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Small Cap funds carry max risk — ABSL Small Cap VaR = -2.39% daily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5577840" cy="1554480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834640"/>
            <a:ext cx="594360" cy="1554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1752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03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2880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SIP At-Risk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32918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97.8% of investors (1,332/1,362) show gaps &gt;35 days — critical retention issue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577840" cy="1554480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2834640"/>
            <a:ext cx="594360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01752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04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40880" y="2880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AUM Leader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0880" y="32918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SBI Mutual Fund dominates with Rs.12.5L Cr — largest AMC in India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5577840" cy="1554480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4572000"/>
            <a:ext cx="594360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75488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05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97280" y="4617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Concentration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7280" y="5029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Axis Bluechip most concentrated (HHI 2,967); UTI Mid Cap most diversified (1,240)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09360" y="4572000"/>
            <a:ext cx="5577840" cy="1554480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4572000"/>
            <a:ext cx="594360" cy="15544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75488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06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040880" y="4617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Liquid Dominance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40880" y="5029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Liquid funds show highest category inflows — risk-averse investor preference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BLUESTOCK FINTECH | MUTUAL FUND ANALYTICS CAPSTONE | JUNE 2026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127829" y="0"/>
            <a:ext cx="1205179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Thank You</a:t>
            </a:r>
            <a:endParaRPr lang="en-US" sz="5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6E4F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Nikita Gaikwad | Data Analyst Intern | Bluestock Fintech Pvt. Ltd.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0" y="2926080"/>
            <a:ext cx="8503920" cy="2560320"/>
          </a:xfrm>
          <a:prstGeom prst="rect">
            <a:avLst/>
          </a:prstGeom>
          <a:solidFill>
            <a:srgbClr val="1A3354"/>
          </a:solidFill>
          <a:ln/>
        </p:spPr>
        <p:txBody>
          <a:bodyPr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30175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Project Details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168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GitHub: 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https://github.com/nikitagaikwad0111/Bluestock-MF-Capstone.git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39593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Technologies: 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0" y="39593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Python | SQL | Power BI | Pandas | Matplotlib | SciPy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1680" y="43982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Data Source: 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0" y="43982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AMFI India | mfapi.in | NSE India | BSE India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11680" y="48371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Duration: 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0" y="483717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7 Working Days | June 2026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All data sourced from publicly available AMFI India, NSE &amp; BSE. For educational purposes only.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1198</Words>
  <Application>Microsoft Office PowerPoint</Application>
  <PresentationFormat>Widescreen</PresentationFormat>
  <Paragraphs>313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Bluestock Fintech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Mutual Fund Analytics Capstone</dc:subject>
  <dc:creator>Nikita Gaikwad</dc:creator>
  <cp:lastModifiedBy>Nikita Gaikwad</cp:lastModifiedBy>
  <cp:revision>7</cp:revision>
  <dcterms:created xsi:type="dcterms:W3CDTF">2026-06-19T11:33:58Z</dcterms:created>
  <dcterms:modified xsi:type="dcterms:W3CDTF">2026-06-19T11:54:05Z</dcterms:modified>
</cp:coreProperties>
</file>